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11"/>
  </p:notesMasterIdLst>
  <p:sldIdLst>
    <p:sldId id="275" r:id="rId2"/>
    <p:sldId id="299" r:id="rId3"/>
    <p:sldId id="300" r:id="rId4"/>
    <p:sldId id="309" r:id="rId5"/>
    <p:sldId id="305" r:id="rId6"/>
    <p:sldId id="276" r:id="rId7"/>
    <p:sldId id="311" r:id="rId8"/>
    <p:sldId id="312" r:id="rId9"/>
    <p:sldId id="310" r:id="rId10"/>
  </p:sldIdLst>
  <p:sldSz cx="14224000" cy="8001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500" kern="1200">
        <a:solidFill>
          <a:schemeClr val="tx1"/>
        </a:solidFill>
        <a:latin typeface="FrutigerNext LT BlackCn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1" userDrawn="1">
          <p15:clr>
            <a:srgbClr val="A4A3A4"/>
          </p15:clr>
        </p15:guide>
        <p15:guide id="2" pos="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00FF"/>
    <a:srgbClr val="CCFFCC"/>
    <a:srgbClr val="000000"/>
    <a:srgbClr val="FF0000"/>
    <a:srgbClr val="CC3300"/>
    <a:srgbClr val="333333"/>
    <a:srgbClr val="990000"/>
    <a:srgbClr val="666666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8" autoAdjust="0"/>
    <p:restoredTop sz="94808" autoAdjust="0"/>
  </p:normalViewPr>
  <p:slideViewPr>
    <p:cSldViewPr snapToObjects="1">
      <p:cViewPr>
        <p:scale>
          <a:sx n="130" d="100"/>
          <a:sy n="130" d="100"/>
        </p:scale>
        <p:origin x="-3078" y="96"/>
      </p:cViewPr>
      <p:guideLst>
        <p:guide orient="horz" pos="751"/>
        <p:guide pos="7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9" d="100"/>
          <a:sy n="59" d="100"/>
        </p:scale>
        <p:origin x="-112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AB32F76-2262-4062-A9D7-395ADC9A3B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7168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B32F76-2262-4062-A9D7-395ADC9A3B5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7931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B32F76-2262-4062-A9D7-395ADC9A3B5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1502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B32F76-2262-4062-A9D7-395ADC9A3B5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7888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80526" y="6508750"/>
            <a:ext cx="1275971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3" descr="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9" y="914400"/>
            <a:ext cx="14221883" cy="444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4"/>
          <p:cNvSpPr txBox="1">
            <a:spLocks noChangeArrowheads="1"/>
          </p:cNvSpPr>
          <p:nvPr userDrawn="1"/>
        </p:nvSpPr>
        <p:spPr bwMode="auto">
          <a:xfrm>
            <a:off x="1015698" y="276227"/>
            <a:ext cx="246068" cy="635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21812" tIns="60905" rIns="121812" bIns="60905">
            <a:spAutoFit/>
          </a:bodyPr>
          <a:lstStyle/>
          <a:p>
            <a:pPr>
              <a:defRPr/>
            </a:pPr>
            <a:endParaRPr lang="en-US" altLang="zh-CN" sz="3332">
              <a:latin typeface="Arial" charset="0"/>
            </a:endParaRPr>
          </a:p>
        </p:txBody>
      </p:sp>
      <p:sp>
        <p:nvSpPr>
          <p:cNvPr id="5" name="Text Box 15"/>
          <p:cNvSpPr txBox="1">
            <a:spLocks noChangeArrowheads="1"/>
          </p:cNvSpPr>
          <p:nvPr userDrawn="1"/>
        </p:nvSpPr>
        <p:spPr bwMode="auto">
          <a:xfrm>
            <a:off x="1015699" y="7240588"/>
            <a:ext cx="3975999" cy="410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21812" tIns="60905" rIns="121812" bIns="60905">
            <a:spAutoFit/>
          </a:bodyPr>
          <a:lstStyle/>
          <a:p>
            <a:pPr>
              <a:defRPr/>
            </a:pPr>
            <a:r>
              <a:rPr lang="en-US" altLang="zh-CN" sz="1866" dirty="0">
                <a:latin typeface="FrutigerNext LT Bold" pitchFamily="1" charset="0"/>
              </a:rPr>
              <a:t>HUAWEI TECHNOLOGIES Co., Ltd.</a:t>
            </a:r>
            <a:endParaRPr lang="en-US" altLang="zh-CN" sz="3332" dirty="0">
              <a:latin typeface="Arial" charset="0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 userDrawn="1"/>
        </p:nvSpPr>
        <p:spPr bwMode="auto">
          <a:xfrm>
            <a:off x="11272131" y="4648200"/>
            <a:ext cx="23403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42190" tIns="71095" rIns="142190" bIns="71095"/>
          <a:lstStyle/>
          <a:p>
            <a:pPr algn="ctr" eaLnBrk="1" hangingPunct="1">
              <a:lnSpc>
                <a:spcPct val="140000"/>
              </a:lnSpc>
              <a:defRPr/>
            </a:pPr>
            <a:r>
              <a:rPr lang="en-US" altLang="zh-CN" sz="1333" b="1">
                <a:solidFill>
                  <a:schemeClr val="bg1"/>
                </a:solidFill>
                <a:latin typeface="FrutigerNext LT Medium" pitchFamily="34" charset="0"/>
                <a:ea typeface="黑体" pitchFamily="2" charset="-122"/>
              </a:rPr>
              <a:t>www.huawei.com</a:t>
            </a:r>
          </a:p>
        </p:txBody>
      </p:sp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6536441" y="7240588"/>
            <a:ext cx="2650251" cy="4101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121812" tIns="60905" rIns="121812" bIns="60905">
            <a:spAutoFit/>
          </a:bodyPr>
          <a:lstStyle/>
          <a:p>
            <a:pPr>
              <a:defRPr/>
            </a:pPr>
            <a:r>
              <a:rPr lang="en-US" altLang="zh-CN" sz="1866" dirty="0">
                <a:latin typeface="FrutigerNext LT Bold" pitchFamily="1" charset="0"/>
              </a:rPr>
              <a:t>HUAWEI Confidential </a:t>
            </a:r>
          </a:p>
        </p:txBody>
      </p:sp>
      <p:sp>
        <p:nvSpPr>
          <p:cNvPr id="8" name="Rectangle 23"/>
          <p:cNvSpPr>
            <a:spLocks noChangeArrowheads="1"/>
          </p:cNvSpPr>
          <p:nvPr userDrawn="1"/>
        </p:nvSpPr>
        <p:spPr bwMode="auto">
          <a:xfrm>
            <a:off x="9985580" y="381002"/>
            <a:ext cx="2147165" cy="4922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121812" tIns="60905" rIns="121812" bIns="60905">
            <a:spAutoFit/>
          </a:bodyPr>
          <a:lstStyle/>
          <a:p>
            <a:pPr>
              <a:defRPr/>
            </a:pPr>
            <a:r>
              <a:rPr lang="en-US" altLang="zh-CN" sz="2399" dirty="0">
                <a:solidFill>
                  <a:srgbClr val="666666"/>
                </a:solidFill>
                <a:latin typeface="FrutigerNext LT Regular" pitchFamily="34" charset="0"/>
              </a:rPr>
              <a:t>Security Level: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3618" y="5141916"/>
            <a:ext cx="12091035" cy="1589087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23618" y="3390903"/>
            <a:ext cx="12091035" cy="1751013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402" indent="0">
              <a:buNone/>
              <a:defRPr sz="2399"/>
            </a:lvl2pPr>
            <a:lvl3pPr marL="1218804" indent="0">
              <a:buNone/>
              <a:defRPr sz="2133"/>
            </a:lvl3pPr>
            <a:lvl4pPr marL="1828206" indent="0">
              <a:buNone/>
              <a:defRPr sz="1866"/>
            </a:lvl4pPr>
            <a:lvl5pPr marL="2437608" indent="0">
              <a:buNone/>
              <a:defRPr sz="1866"/>
            </a:lvl5pPr>
            <a:lvl6pPr marL="3047009" indent="0">
              <a:buNone/>
              <a:defRPr sz="1866"/>
            </a:lvl6pPr>
            <a:lvl7pPr marL="3656411" indent="0">
              <a:buNone/>
              <a:defRPr sz="1866"/>
            </a:lvl7pPr>
            <a:lvl8pPr marL="4265813" indent="0">
              <a:buNone/>
              <a:defRPr sz="1866"/>
            </a:lvl8pPr>
            <a:lvl9pPr marL="4875215" indent="0">
              <a:buNone/>
              <a:defRPr sz="186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67029" y="1866903"/>
            <a:ext cx="6170364" cy="5280025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40535" y="1866903"/>
            <a:ext cx="6172479" cy="5280025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990" y="320675"/>
            <a:ext cx="12802023" cy="1333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0990" y="1790703"/>
            <a:ext cx="6284630" cy="746125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02" indent="0">
              <a:buNone/>
              <a:defRPr sz="2666" b="1"/>
            </a:lvl2pPr>
            <a:lvl3pPr marL="1218804" indent="0">
              <a:buNone/>
              <a:defRPr sz="2399" b="1"/>
            </a:lvl3pPr>
            <a:lvl4pPr marL="1828206" indent="0">
              <a:buNone/>
              <a:defRPr sz="2133" b="1"/>
            </a:lvl4pPr>
            <a:lvl5pPr marL="2437608" indent="0">
              <a:buNone/>
              <a:defRPr sz="2133" b="1"/>
            </a:lvl5pPr>
            <a:lvl6pPr marL="3047009" indent="0">
              <a:buNone/>
              <a:defRPr sz="2133" b="1"/>
            </a:lvl6pPr>
            <a:lvl7pPr marL="3656411" indent="0">
              <a:buNone/>
              <a:defRPr sz="2133" b="1"/>
            </a:lvl7pPr>
            <a:lvl8pPr marL="4265813" indent="0">
              <a:buNone/>
              <a:defRPr sz="2133" b="1"/>
            </a:lvl8pPr>
            <a:lvl9pPr marL="4875215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10990" y="2536825"/>
            <a:ext cx="6284630" cy="4610100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26268" y="1790703"/>
            <a:ext cx="6286745" cy="746125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02" indent="0">
              <a:buNone/>
              <a:defRPr sz="2666" b="1"/>
            </a:lvl2pPr>
            <a:lvl3pPr marL="1218804" indent="0">
              <a:buNone/>
              <a:defRPr sz="2399" b="1"/>
            </a:lvl3pPr>
            <a:lvl4pPr marL="1828206" indent="0">
              <a:buNone/>
              <a:defRPr sz="2133" b="1"/>
            </a:lvl4pPr>
            <a:lvl5pPr marL="2437608" indent="0">
              <a:buNone/>
              <a:defRPr sz="2133" b="1"/>
            </a:lvl5pPr>
            <a:lvl6pPr marL="3047009" indent="0">
              <a:buNone/>
              <a:defRPr sz="2133" b="1"/>
            </a:lvl6pPr>
            <a:lvl7pPr marL="3656411" indent="0">
              <a:buNone/>
              <a:defRPr sz="2133" b="1"/>
            </a:lvl7pPr>
            <a:lvl8pPr marL="4265813" indent="0">
              <a:buNone/>
              <a:defRPr sz="2133" b="1"/>
            </a:lvl8pPr>
            <a:lvl9pPr marL="4875215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26268" y="2536825"/>
            <a:ext cx="6286745" cy="4610100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988" y="319091"/>
            <a:ext cx="4680674" cy="1355725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60947" y="319091"/>
            <a:ext cx="7952067" cy="6827837"/>
          </a:xfr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199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10988" y="1674813"/>
            <a:ext cx="4680674" cy="5472112"/>
          </a:xfrm>
        </p:spPr>
        <p:txBody>
          <a:bodyPr/>
          <a:lstStyle>
            <a:lvl1pPr marL="0" indent="0">
              <a:buNone/>
              <a:defRPr sz="1866"/>
            </a:lvl1pPr>
            <a:lvl2pPr marL="609402" indent="0">
              <a:buNone/>
              <a:defRPr sz="1599"/>
            </a:lvl2pPr>
            <a:lvl3pPr marL="1218804" indent="0">
              <a:buNone/>
              <a:defRPr sz="1333"/>
            </a:lvl3pPr>
            <a:lvl4pPr marL="1828206" indent="0">
              <a:buNone/>
              <a:defRPr sz="1200"/>
            </a:lvl4pPr>
            <a:lvl5pPr marL="2437608" indent="0">
              <a:buNone/>
              <a:defRPr sz="1200"/>
            </a:lvl5pPr>
            <a:lvl6pPr marL="3047009" indent="0">
              <a:buNone/>
              <a:defRPr sz="1200"/>
            </a:lvl6pPr>
            <a:lvl7pPr marL="3656411" indent="0">
              <a:buNone/>
              <a:defRPr sz="1200"/>
            </a:lvl7pPr>
            <a:lvl8pPr marL="4265813" indent="0">
              <a:buNone/>
              <a:defRPr sz="1200"/>
            </a:lvl8pPr>
            <a:lvl9pPr marL="487521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8937" y="5600700"/>
            <a:ext cx="8533977" cy="661988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88937" y="714375"/>
            <a:ext cx="8533977" cy="4800600"/>
          </a:xfrm>
        </p:spPr>
        <p:txBody>
          <a:bodyPr/>
          <a:lstStyle>
            <a:lvl1pPr marL="0" indent="0">
              <a:buNone/>
              <a:defRPr sz="4265"/>
            </a:lvl1pPr>
            <a:lvl2pPr marL="609402" indent="0">
              <a:buNone/>
              <a:defRPr sz="3732"/>
            </a:lvl2pPr>
            <a:lvl3pPr marL="1218804" indent="0">
              <a:buNone/>
              <a:defRPr sz="3199"/>
            </a:lvl3pPr>
            <a:lvl4pPr marL="1828206" indent="0">
              <a:buNone/>
              <a:defRPr sz="2666"/>
            </a:lvl4pPr>
            <a:lvl5pPr marL="2437608" indent="0">
              <a:buNone/>
              <a:defRPr sz="2666"/>
            </a:lvl5pPr>
            <a:lvl6pPr marL="3047009" indent="0">
              <a:buNone/>
              <a:defRPr sz="2666"/>
            </a:lvl6pPr>
            <a:lvl7pPr marL="3656411" indent="0">
              <a:buNone/>
              <a:defRPr sz="2666"/>
            </a:lvl7pPr>
            <a:lvl8pPr marL="4265813" indent="0">
              <a:buNone/>
              <a:defRPr sz="2666"/>
            </a:lvl8pPr>
            <a:lvl9pPr marL="4875215" indent="0">
              <a:buNone/>
              <a:defRPr sz="2666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788937" y="6262688"/>
            <a:ext cx="8533977" cy="938212"/>
          </a:xfrm>
        </p:spPr>
        <p:txBody>
          <a:bodyPr/>
          <a:lstStyle>
            <a:lvl1pPr marL="0" indent="0">
              <a:buNone/>
              <a:defRPr sz="1866"/>
            </a:lvl1pPr>
            <a:lvl2pPr marL="609402" indent="0">
              <a:buNone/>
              <a:defRPr sz="1599"/>
            </a:lvl2pPr>
            <a:lvl3pPr marL="1218804" indent="0">
              <a:buNone/>
              <a:defRPr sz="1333"/>
            </a:lvl3pPr>
            <a:lvl4pPr marL="1828206" indent="0">
              <a:buNone/>
              <a:defRPr sz="1200"/>
            </a:lvl4pPr>
            <a:lvl5pPr marL="2437608" indent="0">
              <a:buNone/>
              <a:defRPr sz="1200"/>
            </a:lvl5pPr>
            <a:lvl6pPr marL="3047009" indent="0">
              <a:buNone/>
              <a:defRPr sz="1200"/>
            </a:lvl6pPr>
            <a:lvl7pPr marL="3656411" indent="0">
              <a:buNone/>
              <a:defRPr sz="1200"/>
            </a:lvl7pPr>
            <a:lvl8pPr marL="4265813" indent="0">
              <a:buNone/>
              <a:defRPr sz="1200"/>
            </a:lvl8pPr>
            <a:lvl9pPr marL="4875215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77047" y="320675"/>
            <a:ext cx="3135967" cy="68262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67029" y="320675"/>
            <a:ext cx="9206876" cy="68262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67030" y="320675"/>
            <a:ext cx="12545982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86" tIns="45692" rIns="91386" bIns="456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7030" y="1866903"/>
            <a:ext cx="12545982" cy="528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86" tIns="45692" rIns="91386" bIns="456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28" name="Picture 7" descr="7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7258050"/>
            <a:ext cx="1422188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0" name="Text Box 8"/>
          <p:cNvSpPr txBox="1">
            <a:spLocks noChangeArrowheads="1"/>
          </p:cNvSpPr>
          <p:nvPr userDrawn="1"/>
        </p:nvSpPr>
        <p:spPr bwMode="auto">
          <a:xfrm>
            <a:off x="1015698" y="7543800"/>
            <a:ext cx="3976017" cy="410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21821" tIns="60913" rIns="121821" bIns="60913">
            <a:spAutoFit/>
          </a:bodyPr>
          <a:lstStyle/>
          <a:p>
            <a:pPr>
              <a:defRPr/>
            </a:pPr>
            <a:r>
              <a:rPr lang="en-US" altLang="zh-CN" sz="1866">
                <a:latin typeface="FrutigerNext LT Bold" pitchFamily="1" charset="0"/>
              </a:rPr>
              <a:t>HUAWEI TECHNOLOGIES Co., Ltd.</a:t>
            </a:r>
            <a:endParaRPr lang="en-US" altLang="zh-CN" sz="3332">
              <a:latin typeface="Arial" charset="0"/>
            </a:endParaRP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223806" y="7467601"/>
            <a:ext cx="164416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5000"/>
              </a:lnSpc>
              <a:defRPr sz="1599">
                <a:latin typeface="FrutigerNext LT Medium" pitchFamily="34" charset="0"/>
              </a:defRPr>
            </a:lvl1pPr>
          </a:lstStyle>
          <a:p>
            <a:pPr>
              <a:defRPr/>
            </a:pPr>
            <a:r>
              <a:rPr lang="en-US"/>
              <a:t> Page 1</a:t>
            </a:r>
            <a:endParaRPr lang="en-GB"/>
          </a:p>
        </p:txBody>
      </p:sp>
      <p:pic>
        <p:nvPicPr>
          <p:cNvPr id="1031" name="Picture 10" descr="8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1680524" y="7467600"/>
            <a:ext cx="2037744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3" name="Rectangle 11"/>
          <p:cNvSpPr>
            <a:spLocks noChangeArrowheads="1"/>
          </p:cNvSpPr>
          <p:nvPr userDrawn="1"/>
        </p:nvSpPr>
        <p:spPr bwMode="auto">
          <a:xfrm>
            <a:off x="5694257" y="7545388"/>
            <a:ext cx="2650251" cy="4101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121812" tIns="60905" rIns="121812" bIns="60905">
            <a:spAutoFit/>
          </a:bodyPr>
          <a:lstStyle/>
          <a:p>
            <a:pPr>
              <a:defRPr/>
            </a:pPr>
            <a:r>
              <a:rPr lang="en-US" altLang="zh-CN" sz="1866">
                <a:latin typeface="FrutigerNext LT Bold" pitchFamily="1" charset="0"/>
              </a:rPr>
              <a:t>HUAWEI Confidential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5pPr>
      <a:lvl6pPr marL="609402" algn="l" rtl="0" fontAlgn="base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6pPr>
      <a:lvl7pPr marL="1218804" algn="l" rtl="0" fontAlgn="base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7pPr>
      <a:lvl8pPr marL="1828206" algn="l" rtl="0" fontAlgn="base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8pPr>
      <a:lvl9pPr marL="2437608" algn="l" rtl="0" fontAlgn="base">
        <a:spcBef>
          <a:spcPct val="0"/>
        </a:spcBef>
        <a:spcAft>
          <a:spcPct val="0"/>
        </a:spcAft>
        <a:defRPr sz="4665" b="1">
          <a:solidFill>
            <a:srgbClr val="990000"/>
          </a:solidFill>
          <a:latin typeface="Arial" charset="0"/>
          <a:ea typeface="黑体" pitchFamily="2" charset="-122"/>
        </a:defRPr>
      </a:lvl9pPr>
    </p:titleStyle>
    <p:bodyStyle>
      <a:lvl1pPr marL="457051" indent="-457051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2932" b="1">
          <a:solidFill>
            <a:schemeClr val="tx1"/>
          </a:solidFill>
          <a:latin typeface="+mn-lt"/>
          <a:ea typeface="+mn-ea"/>
          <a:cs typeface="+mn-cs"/>
        </a:defRPr>
      </a:lvl1pPr>
      <a:lvl2pPr marL="990278" indent="-380876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2pPr>
      <a:lvl3pPr marL="1523505" indent="-304701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3pPr>
      <a:lvl4pPr marL="2132907" indent="-306818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4pPr>
      <a:lvl5pPr marL="2740193" indent="-302586"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5pPr>
      <a:lvl6pPr marL="3349595" indent="-302586" algn="l" rtl="0" fontAlgn="base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6pPr>
      <a:lvl7pPr marL="3958997" indent="-302586" algn="l" rtl="0" fontAlgn="base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7pPr>
      <a:lvl8pPr marL="4568399" indent="-302586" algn="l" rtl="0" fontAlgn="base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8pPr>
      <a:lvl9pPr marL="5177801" indent="-302586" algn="l" rtl="0" fontAlgn="base">
        <a:lnSpc>
          <a:spcPct val="140000"/>
        </a:lnSpc>
        <a:spcBef>
          <a:spcPct val="0"/>
        </a:spcBef>
        <a:spcAft>
          <a:spcPct val="0"/>
        </a:spcAft>
        <a:defRPr sz="2932">
          <a:solidFill>
            <a:schemeClr val="tx1"/>
          </a:solidFill>
          <a:latin typeface="+mn-lt"/>
          <a:ea typeface="华文细黑" pitchFamily="2" charset="-122"/>
        </a:defRPr>
      </a:lvl9pPr>
    </p:bodyStyle>
    <p:otherStyle>
      <a:defPPr>
        <a:defRPr lang="zh-CN"/>
      </a:defPPr>
      <a:lvl1pPr marL="0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02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04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06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08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009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411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813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215" algn="l" defTabSz="121880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807744" y="42085"/>
            <a:ext cx="5808522" cy="6563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1254776">
              <a:spcAft>
                <a:spcPct val="15000"/>
              </a:spcAft>
            </a:pPr>
            <a:r>
              <a:rPr lang="zh-CN" altLang="en-US" sz="4265" b="1" dirty="0">
                <a:solidFill>
                  <a:srgbClr val="464646"/>
                </a:solidFill>
                <a:latin typeface="Arial" charset="0"/>
                <a:ea typeface="宋体" charset="-122"/>
              </a:rPr>
              <a:t>个人工作简历（简述）</a:t>
            </a:r>
          </a:p>
        </p:txBody>
      </p:sp>
      <p:sp>
        <p:nvSpPr>
          <p:cNvPr id="5127" name="Line 23"/>
          <p:cNvSpPr>
            <a:spLocks noChangeShapeType="1"/>
          </p:cNvSpPr>
          <p:nvPr/>
        </p:nvSpPr>
        <p:spPr bwMode="auto">
          <a:xfrm>
            <a:off x="927502" y="737264"/>
            <a:ext cx="1228571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F92A0CA-6916-4A62-B47B-539F59CD7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95746"/>
              </p:ext>
            </p:extLst>
          </p:nvPr>
        </p:nvGraphicFramePr>
        <p:xfrm>
          <a:off x="1013130" y="1341957"/>
          <a:ext cx="12624067" cy="1576422"/>
        </p:xfrm>
        <a:graphic>
          <a:graphicData uri="http://schemas.openxmlformats.org/drawingml/2006/table">
            <a:tbl>
              <a:tblPr firstRow="1" firstCol="1" bandRow="1"/>
              <a:tblGrid>
                <a:gridCol w="2256957">
                  <a:extLst>
                    <a:ext uri="{9D8B030D-6E8A-4147-A177-3AD203B41FA5}">
                      <a16:colId xmlns:a16="http://schemas.microsoft.com/office/drawing/2014/main" val="3028191007"/>
                    </a:ext>
                  </a:extLst>
                </a:gridCol>
                <a:gridCol w="2056255">
                  <a:extLst>
                    <a:ext uri="{9D8B030D-6E8A-4147-A177-3AD203B41FA5}">
                      <a16:colId xmlns:a16="http://schemas.microsoft.com/office/drawing/2014/main" val="3323529353"/>
                    </a:ext>
                  </a:extLst>
                </a:gridCol>
                <a:gridCol w="2096648">
                  <a:extLst>
                    <a:ext uri="{9D8B030D-6E8A-4147-A177-3AD203B41FA5}">
                      <a16:colId xmlns:a16="http://schemas.microsoft.com/office/drawing/2014/main" val="2414665450"/>
                    </a:ext>
                  </a:extLst>
                </a:gridCol>
                <a:gridCol w="2056255">
                  <a:extLst>
                    <a:ext uri="{9D8B030D-6E8A-4147-A177-3AD203B41FA5}">
                      <a16:colId xmlns:a16="http://schemas.microsoft.com/office/drawing/2014/main" val="1985480007"/>
                    </a:ext>
                  </a:extLst>
                </a:gridCol>
                <a:gridCol w="2101697">
                  <a:extLst>
                    <a:ext uri="{9D8B030D-6E8A-4147-A177-3AD203B41FA5}">
                      <a16:colId xmlns:a16="http://schemas.microsoft.com/office/drawing/2014/main" val="340457612"/>
                    </a:ext>
                  </a:extLst>
                </a:gridCol>
                <a:gridCol w="2056255">
                  <a:extLst>
                    <a:ext uri="{9D8B030D-6E8A-4147-A177-3AD203B41FA5}">
                      <a16:colId xmlns:a16="http://schemas.microsoft.com/office/drawing/2014/main" val="1182158011"/>
                    </a:ext>
                  </a:extLst>
                </a:gridCol>
              </a:tblGrid>
              <a:tr h="399873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Lee Lin Yuan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(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李凌缘）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工号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00647867 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性别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Sex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41231387"/>
                  </a:ext>
                </a:extLst>
              </a:tr>
              <a:tr h="590197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籍贯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Place of Origin 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马来西亚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现工作地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Work place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马来西亚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移动电话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Mobile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kumimoji="0" lang="en-US" altLang="zh-CN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+60 1116553434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27481008"/>
                  </a:ext>
                </a:extLst>
              </a:tr>
              <a:tr h="586352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出生年月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 of Birth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1997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毕业日期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 of Graduation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华为入职日期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 Employed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altLang="zh-CN" sz="10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8403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FEA62DA-19E8-404F-BF78-E511189446F3}"/>
              </a:ext>
            </a:extLst>
          </p:cNvPr>
          <p:cNvSpPr/>
          <p:nvPr/>
        </p:nvSpPr>
        <p:spPr>
          <a:xfrm>
            <a:off x="818482" y="933153"/>
            <a:ext cx="4372159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324485" algn="just"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个人资料</a:t>
            </a:r>
            <a:r>
              <a:rPr 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PERSONAL DATA</a:t>
            </a:r>
            <a:endParaRPr lang="en-US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06FA10-BA3C-46BA-AAB7-057D2B425813}"/>
              </a:ext>
            </a:extLst>
          </p:cNvPr>
          <p:cNvSpPr/>
          <p:nvPr/>
        </p:nvSpPr>
        <p:spPr>
          <a:xfrm>
            <a:off x="838404" y="3242664"/>
            <a:ext cx="3008965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324485" algn="just"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学历</a:t>
            </a:r>
            <a:r>
              <a:rPr 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EDUCATION</a:t>
            </a:r>
            <a:endParaRPr lang="en-US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28405E-E72F-4261-8921-2C4DD89A7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66876"/>
              </p:ext>
            </p:extLst>
          </p:nvPr>
        </p:nvGraphicFramePr>
        <p:xfrm>
          <a:off x="969567" y="3656159"/>
          <a:ext cx="12600004" cy="783903"/>
        </p:xfrm>
        <a:graphic>
          <a:graphicData uri="http://schemas.openxmlformats.org/drawingml/2006/table">
            <a:tbl>
              <a:tblPr firstRow="1" firstCol="1" bandRow="1"/>
              <a:tblGrid>
                <a:gridCol w="1972908">
                  <a:extLst>
                    <a:ext uri="{9D8B030D-6E8A-4147-A177-3AD203B41FA5}">
                      <a16:colId xmlns:a16="http://schemas.microsoft.com/office/drawing/2014/main" val="2557001192"/>
                    </a:ext>
                  </a:extLst>
                </a:gridCol>
                <a:gridCol w="2883011">
                  <a:extLst>
                    <a:ext uri="{9D8B030D-6E8A-4147-A177-3AD203B41FA5}">
                      <a16:colId xmlns:a16="http://schemas.microsoft.com/office/drawing/2014/main" val="2593770532"/>
                    </a:ext>
                  </a:extLst>
                </a:gridCol>
                <a:gridCol w="3866417">
                  <a:extLst>
                    <a:ext uri="{9D8B030D-6E8A-4147-A177-3AD203B41FA5}">
                      <a16:colId xmlns:a16="http://schemas.microsoft.com/office/drawing/2014/main" val="561735516"/>
                    </a:ext>
                  </a:extLst>
                </a:gridCol>
                <a:gridCol w="2941606">
                  <a:extLst>
                    <a:ext uri="{9D8B030D-6E8A-4147-A177-3AD203B41FA5}">
                      <a16:colId xmlns:a16="http://schemas.microsoft.com/office/drawing/2014/main" val="537743403"/>
                    </a:ext>
                  </a:extLst>
                </a:gridCol>
                <a:gridCol w="936062">
                  <a:extLst>
                    <a:ext uri="{9D8B030D-6E8A-4147-A177-3AD203B41FA5}">
                      <a16:colId xmlns:a16="http://schemas.microsoft.com/office/drawing/2014/main" val="3945159280"/>
                    </a:ext>
                  </a:extLst>
                </a:gridCol>
              </a:tblGrid>
              <a:tr h="25520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tabLst>
                          <a:tab pos="998220" algn="l"/>
                        </a:tabLs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起止时间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Beginning and Ending Time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毕业学校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University/College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学历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Education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学位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Degree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Major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965504"/>
                  </a:ext>
                </a:extLst>
              </a:tr>
              <a:tr h="309177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2016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2018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54610" indent="228600" algn="just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Universiti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Tunku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Abdul Rahman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Bachelor of  Science (Honor) in Financial Mathematics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323850" algn="just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学士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Bachelor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金融数学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261210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871009EC-461C-43CE-843B-8DED9FAF4A6B}"/>
              </a:ext>
            </a:extLst>
          </p:cNvPr>
          <p:cNvSpPr/>
          <p:nvPr/>
        </p:nvSpPr>
        <p:spPr>
          <a:xfrm>
            <a:off x="838404" y="4753069"/>
            <a:ext cx="4759701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324485" algn="just"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工作经历</a:t>
            </a:r>
            <a:r>
              <a:rPr lang="en-US" altLang="zh-CN" sz="2400" b="1" kern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E2802-77B6-4251-A8FF-71E0B62F9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51095"/>
              </p:ext>
            </p:extLst>
          </p:nvPr>
        </p:nvGraphicFramePr>
        <p:xfrm>
          <a:off x="944640" y="5177842"/>
          <a:ext cx="12600005" cy="2423060"/>
        </p:xfrm>
        <a:graphic>
          <a:graphicData uri="http://schemas.openxmlformats.org/drawingml/2006/table">
            <a:tbl>
              <a:tblPr firstRow="1" firstCol="1" bandRow="1"/>
              <a:tblGrid>
                <a:gridCol w="3402128">
                  <a:extLst>
                    <a:ext uri="{9D8B030D-6E8A-4147-A177-3AD203B41FA5}">
                      <a16:colId xmlns:a16="http://schemas.microsoft.com/office/drawing/2014/main" val="2542626837"/>
                    </a:ext>
                  </a:extLst>
                </a:gridCol>
                <a:gridCol w="2465073">
                  <a:extLst>
                    <a:ext uri="{9D8B030D-6E8A-4147-A177-3AD203B41FA5}">
                      <a16:colId xmlns:a16="http://schemas.microsoft.com/office/drawing/2014/main" val="2112088120"/>
                    </a:ext>
                  </a:extLst>
                </a:gridCol>
                <a:gridCol w="4733372">
                  <a:extLst>
                    <a:ext uri="{9D8B030D-6E8A-4147-A177-3AD203B41FA5}">
                      <a16:colId xmlns:a16="http://schemas.microsoft.com/office/drawing/2014/main" val="320643852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229755027"/>
                    </a:ext>
                  </a:extLst>
                </a:gridCol>
                <a:gridCol w="919312">
                  <a:extLst>
                    <a:ext uri="{9D8B030D-6E8A-4147-A177-3AD203B41FA5}">
                      <a16:colId xmlns:a16="http://schemas.microsoft.com/office/drawing/2014/main" val="1738082493"/>
                    </a:ext>
                  </a:extLst>
                </a:gridCol>
              </a:tblGrid>
              <a:tr h="41725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公司名称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 of 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Company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职位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Position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工作职责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Specific Responsibility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098736"/>
                  </a:ext>
                </a:extLst>
              </a:tr>
              <a:tr h="3368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From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632723"/>
                  </a:ext>
                </a:extLst>
              </a:tr>
              <a:tr h="417251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Pilot Multimedia </a:t>
                      </a: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Sdn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Bhd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风控系统数据建模实习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学习风控系统数据建模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825662"/>
                  </a:ext>
                </a:extLst>
              </a:tr>
              <a:tr h="417251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Royal Bank Canada 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银行税务专员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支撑英国、法国、日本和丹麦客户税务回扣情况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78585"/>
                  </a:ext>
                </a:extLst>
              </a:tr>
              <a:tr h="417251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Hong Leong Bank </a:t>
                      </a:r>
                      <a:r>
                        <a:rPr lang="en-US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Berhad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银行企业贷款财务专员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核实企业财务报表情况，计算风险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2019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244170"/>
                  </a:ext>
                </a:extLst>
              </a:tr>
              <a:tr h="417251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Huawei Technologies 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Sdn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Bhd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ARP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入职华为任职</a:t>
                      </a: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应用工程师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负责公司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应用项目在当地实施推广，为本地专属的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应用需求开发实施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2019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现在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0806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807744" y="70142"/>
            <a:ext cx="5808522" cy="6563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1254776">
              <a:spcAft>
                <a:spcPct val="15000"/>
              </a:spcAft>
            </a:pPr>
            <a:r>
              <a:rPr lang="zh-CN" altLang="en-US" sz="4265" b="1" dirty="0">
                <a:solidFill>
                  <a:srgbClr val="464646"/>
                </a:solidFill>
                <a:latin typeface="Arial" charset="0"/>
                <a:ea typeface="宋体" charset="-122"/>
              </a:rPr>
              <a:t>个人工作简历（简述）</a:t>
            </a:r>
          </a:p>
        </p:txBody>
      </p:sp>
      <p:sp>
        <p:nvSpPr>
          <p:cNvPr id="5127" name="Line 23"/>
          <p:cNvSpPr>
            <a:spLocks noChangeShapeType="1"/>
          </p:cNvSpPr>
          <p:nvPr/>
        </p:nvSpPr>
        <p:spPr bwMode="auto">
          <a:xfrm>
            <a:off x="969145" y="726476"/>
            <a:ext cx="1228571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EA62DA-19E8-404F-BF78-E511189446F3}"/>
              </a:ext>
            </a:extLst>
          </p:cNvPr>
          <p:cNvSpPr/>
          <p:nvPr/>
        </p:nvSpPr>
        <p:spPr>
          <a:xfrm>
            <a:off x="891246" y="899605"/>
            <a:ext cx="6016134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324485" algn="just"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现任职概况</a:t>
            </a: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PRESENT EMPLOYMENT</a:t>
            </a:r>
            <a:endParaRPr lang="en-US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06FA10-BA3C-46BA-AAB7-057D2B425813}"/>
              </a:ext>
            </a:extLst>
          </p:cNvPr>
          <p:cNvSpPr/>
          <p:nvPr/>
        </p:nvSpPr>
        <p:spPr>
          <a:xfrm>
            <a:off x="891246" y="4864596"/>
            <a:ext cx="4731039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外语能力</a:t>
            </a:r>
            <a:r>
              <a:rPr lang="en-US" b="1" dirty="0"/>
              <a:t>Foreign Language Ability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4BA05E-CC08-474B-8855-437B6BF7F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442903"/>
              </p:ext>
            </p:extLst>
          </p:nvPr>
        </p:nvGraphicFramePr>
        <p:xfrm>
          <a:off x="1031916" y="1295225"/>
          <a:ext cx="12407551" cy="3113843"/>
        </p:xfrm>
        <a:graphic>
          <a:graphicData uri="http://schemas.openxmlformats.org/drawingml/2006/table">
            <a:tbl>
              <a:tblPr firstRow="1" firstCol="1" bandRow="1"/>
              <a:tblGrid>
                <a:gridCol w="2807931">
                  <a:extLst>
                    <a:ext uri="{9D8B030D-6E8A-4147-A177-3AD203B41FA5}">
                      <a16:colId xmlns:a16="http://schemas.microsoft.com/office/drawing/2014/main" val="1188912028"/>
                    </a:ext>
                  </a:extLst>
                </a:gridCol>
                <a:gridCol w="1796063">
                  <a:extLst>
                    <a:ext uri="{9D8B030D-6E8A-4147-A177-3AD203B41FA5}">
                      <a16:colId xmlns:a16="http://schemas.microsoft.com/office/drawing/2014/main" val="1993901590"/>
                    </a:ext>
                  </a:extLst>
                </a:gridCol>
                <a:gridCol w="1618988">
                  <a:extLst>
                    <a:ext uri="{9D8B030D-6E8A-4147-A177-3AD203B41FA5}">
                      <a16:colId xmlns:a16="http://schemas.microsoft.com/office/drawing/2014/main" val="1316953112"/>
                    </a:ext>
                  </a:extLst>
                </a:gridCol>
                <a:gridCol w="1290131">
                  <a:extLst>
                    <a:ext uri="{9D8B030D-6E8A-4147-A177-3AD203B41FA5}">
                      <a16:colId xmlns:a16="http://schemas.microsoft.com/office/drawing/2014/main" val="1230592134"/>
                    </a:ext>
                  </a:extLst>
                </a:gridCol>
                <a:gridCol w="2820756">
                  <a:extLst>
                    <a:ext uri="{9D8B030D-6E8A-4147-A177-3AD203B41FA5}">
                      <a16:colId xmlns:a16="http://schemas.microsoft.com/office/drawing/2014/main" val="2611849345"/>
                    </a:ext>
                  </a:extLst>
                </a:gridCol>
                <a:gridCol w="2073682">
                  <a:extLst>
                    <a:ext uri="{9D8B030D-6E8A-4147-A177-3AD203B41FA5}">
                      <a16:colId xmlns:a16="http://schemas.microsoft.com/office/drawing/2014/main" val="4200755481"/>
                    </a:ext>
                  </a:extLst>
                </a:gridCol>
              </a:tblGrid>
              <a:tr h="726284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一级部门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Primary Department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亚太地区部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二级部门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Secondary Department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亚太总裁办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最小部门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Minimum Department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业务服务部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649230"/>
                  </a:ext>
                </a:extLst>
              </a:tr>
              <a:tr h="466314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职位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Position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方案与产品工程师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职类</a:t>
                      </a:r>
                      <a:r>
                        <a:rPr lang="en-US" sz="12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Position Type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B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现从事产品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/Product/Business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质量与流程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族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数字化技术类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专项技术应用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97612"/>
                  </a:ext>
                </a:extLst>
              </a:tr>
              <a:tr h="86460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调入现部门时间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 of Entering Present Department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个月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承担现任工作时间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Time of Taking On Present Job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个月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kern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员工绩效成绩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Performance Appraisal Results</a:t>
                      </a:r>
                      <a:endParaRPr lang="en-US" sz="12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2019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年绩效：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285260"/>
                  </a:ext>
                </a:extLst>
              </a:tr>
              <a:tr h="726284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主要负责工作</a:t>
                      </a:r>
                      <a:r>
                        <a:rPr lang="en-US" sz="12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Main Responsibilities and Major Achievements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解决方案与产品工程师，负责公司应用产品在亚太范围内推广及落地， 并为本地专属的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应用需求开发实施。此外，负责设计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解决方案，并把优秀方案做好总结，牵引其他代表处复用优秀方案，提高业务整体运营效率。</a:t>
                      </a:r>
                      <a:endParaRPr lang="en-US" altLang="zh-CN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作为多个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变革项目的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PMO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，负责大型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4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项目变革端到端管理，保障质量确保落地成功，及对后续的运营运维做好持续管理。</a:t>
                      </a:r>
                      <a:endParaRPr lang="en-US" sz="14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8880011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EC6C5E0-DDD0-4CC9-9EB3-C91951928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936025"/>
              </p:ext>
            </p:extLst>
          </p:nvPr>
        </p:nvGraphicFramePr>
        <p:xfrm>
          <a:off x="1031917" y="5512668"/>
          <a:ext cx="12407550" cy="2053415"/>
        </p:xfrm>
        <a:graphic>
          <a:graphicData uri="http://schemas.openxmlformats.org/drawingml/2006/table">
            <a:tbl>
              <a:tblPr firstRow="1" firstCol="1" bandRow="1"/>
              <a:tblGrid>
                <a:gridCol w="1102816">
                  <a:extLst>
                    <a:ext uri="{9D8B030D-6E8A-4147-A177-3AD203B41FA5}">
                      <a16:colId xmlns:a16="http://schemas.microsoft.com/office/drawing/2014/main" val="504035722"/>
                    </a:ext>
                  </a:extLst>
                </a:gridCol>
                <a:gridCol w="3537108">
                  <a:extLst>
                    <a:ext uri="{9D8B030D-6E8A-4147-A177-3AD203B41FA5}">
                      <a16:colId xmlns:a16="http://schemas.microsoft.com/office/drawing/2014/main" val="2208780170"/>
                    </a:ext>
                  </a:extLst>
                </a:gridCol>
                <a:gridCol w="691186">
                  <a:extLst>
                    <a:ext uri="{9D8B030D-6E8A-4147-A177-3AD203B41FA5}">
                      <a16:colId xmlns:a16="http://schemas.microsoft.com/office/drawing/2014/main" val="1421311124"/>
                    </a:ext>
                  </a:extLst>
                </a:gridCol>
                <a:gridCol w="838999">
                  <a:extLst>
                    <a:ext uri="{9D8B030D-6E8A-4147-A177-3AD203B41FA5}">
                      <a16:colId xmlns:a16="http://schemas.microsoft.com/office/drawing/2014/main" val="2314958700"/>
                    </a:ext>
                  </a:extLst>
                </a:gridCol>
                <a:gridCol w="890351">
                  <a:extLst>
                    <a:ext uri="{9D8B030D-6E8A-4147-A177-3AD203B41FA5}">
                      <a16:colId xmlns:a16="http://schemas.microsoft.com/office/drawing/2014/main" val="587171803"/>
                    </a:ext>
                  </a:extLst>
                </a:gridCol>
                <a:gridCol w="891597">
                  <a:extLst>
                    <a:ext uri="{9D8B030D-6E8A-4147-A177-3AD203B41FA5}">
                      <a16:colId xmlns:a16="http://schemas.microsoft.com/office/drawing/2014/main" val="1965040663"/>
                    </a:ext>
                  </a:extLst>
                </a:gridCol>
                <a:gridCol w="891597">
                  <a:extLst>
                    <a:ext uri="{9D8B030D-6E8A-4147-A177-3AD203B41FA5}">
                      <a16:colId xmlns:a16="http://schemas.microsoft.com/office/drawing/2014/main" val="2737397415"/>
                    </a:ext>
                  </a:extLst>
                </a:gridCol>
                <a:gridCol w="890351">
                  <a:extLst>
                    <a:ext uri="{9D8B030D-6E8A-4147-A177-3AD203B41FA5}">
                      <a16:colId xmlns:a16="http://schemas.microsoft.com/office/drawing/2014/main" val="1241990474"/>
                    </a:ext>
                  </a:extLst>
                </a:gridCol>
                <a:gridCol w="890351">
                  <a:extLst>
                    <a:ext uri="{9D8B030D-6E8A-4147-A177-3AD203B41FA5}">
                      <a16:colId xmlns:a16="http://schemas.microsoft.com/office/drawing/2014/main" val="3228799952"/>
                    </a:ext>
                  </a:extLst>
                </a:gridCol>
                <a:gridCol w="891597">
                  <a:extLst>
                    <a:ext uri="{9D8B030D-6E8A-4147-A177-3AD203B41FA5}">
                      <a16:colId xmlns:a16="http://schemas.microsoft.com/office/drawing/2014/main" val="2613205268"/>
                    </a:ext>
                  </a:extLst>
                </a:gridCol>
                <a:gridCol w="891597">
                  <a:extLst>
                    <a:ext uri="{9D8B030D-6E8A-4147-A177-3AD203B41FA5}">
                      <a16:colId xmlns:a16="http://schemas.microsoft.com/office/drawing/2014/main" val="1918258178"/>
                    </a:ext>
                  </a:extLst>
                </a:gridCol>
              </a:tblGrid>
              <a:tr h="176007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资格证书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成绩</a:t>
                      </a: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Foreign language certificate/score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会话</a:t>
                      </a:r>
                      <a:r>
                        <a:rPr lang="en-US" sz="1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Speaking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阅读</a:t>
                      </a:r>
                      <a:r>
                        <a:rPr lang="en-US" sz="1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书写</a:t>
                      </a:r>
                      <a:r>
                        <a:rPr lang="en-US" sz="10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Writing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374679"/>
                  </a:ext>
                </a:extLst>
              </a:tr>
              <a:tr h="4693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良好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tabLst>
                          <a:tab pos="291465" algn="l"/>
                        </a:tabLs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Good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Fair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略懂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良好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tabLst>
                          <a:tab pos="291465" algn="l"/>
                        </a:tabLs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Good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Fair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略懂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良好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tabLst>
                          <a:tab pos="291465" algn="l"/>
                        </a:tabLs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Good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Fair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略懂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80940"/>
                  </a:ext>
                </a:extLst>
              </a:tr>
              <a:tr h="4693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中文</a:t>
                      </a:r>
                      <a:endParaRPr lang="en-US" altLang="zh-CN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Chinese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年教育， 高中鉴定考试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9455790"/>
                  </a:ext>
                </a:extLst>
              </a:tr>
              <a:tr h="4693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英语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English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年教育， 高中鉴定考试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</a:p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马来西亚大学鉴定考试</a:t>
                      </a:r>
                      <a:r>
                        <a:rPr lang="en-US" altLang="zh-CN" sz="1000" kern="1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Muet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Band4 (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最高等级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Band6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0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b="1" kern="100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endParaRPr lang="en-US" sz="10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1899740"/>
                  </a:ext>
                </a:extLst>
              </a:tr>
              <a:tr h="46935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马来语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Malay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年教育， 高中鉴定考试</a:t>
                      </a:r>
                      <a:r>
                        <a:rPr lang="en-US" altLang="zh-CN" sz="10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en-US" sz="10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  <a:r>
                        <a:rPr lang="zh-CN" alt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✔</a:t>
                      </a:r>
                      <a:endParaRPr lang="en-US" sz="10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34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63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807744" y="70142"/>
            <a:ext cx="5808522" cy="65633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1254776">
              <a:spcAft>
                <a:spcPct val="15000"/>
              </a:spcAft>
            </a:pPr>
            <a:r>
              <a:rPr lang="zh-CN" altLang="en-US" sz="4265" b="1" dirty="0">
                <a:solidFill>
                  <a:srgbClr val="464646"/>
                </a:solidFill>
                <a:latin typeface="Arial" charset="0"/>
                <a:ea typeface="宋体" charset="-122"/>
              </a:rPr>
              <a:t>个人工作简历（简述）</a:t>
            </a:r>
          </a:p>
        </p:txBody>
      </p:sp>
      <p:sp>
        <p:nvSpPr>
          <p:cNvPr id="5127" name="Line 23"/>
          <p:cNvSpPr>
            <a:spLocks noChangeShapeType="1"/>
          </p:cNvSpPr>
          <p:nvPr/>
        </p:nvSpPr>
        <p:spPr bwMode="auto">
          <a:xfrm>
            <a:off x="969145" y="726476"/>
            <a:ext cx="1228571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EA62DA-19E8-404F-BF78-E511189446F3}"/>
              </a:ext>
            </a:extLst>
          </p:cNvPr>
          <p:cNvSpPr/>
          <p:nvPr/>
        </p:nvSpPr>
        <p:spPr>
          <a:xfrm>
            <a:off x="967363" y="864934"/>
            <a:ext cx="5749779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324485" algn="just"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华为讲师经历 </a:t>
            </a: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Instructor Experience</a:t>
            </a:r>
            <a:endParaRPr lang="en-US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28F3AB-D3C1-4ECA-B775-D17A77DDE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97637"/>
              </p:ext>
            </p:extLst>
          </p:nvPr>
        </p:nvGraphicFramePr>
        <p:xfrm>
          <a:off x="988345" y="1400228"/>
          <a:ext cx="12285709" cy="1670710"/>
        </p:xfrm>
        <a:graphic>
          <a:graphicData uri="http://schemas.openxmlformats.org/drawingml/2006/table">
            <a:tbl>
              <a:tblPr firstRow="1" firstCol="1" bandRow="1"/>
              <a:tblGrid>
                <a:gridCol w="1677095">
                  <a:extLst>
                    <a:ext uri="{9D8B030D-6E8A-4147-A177-3AD203B41FA5}">
                      <a16:colId xmlns:a16="http://schemas.microsoft.com/office/drawing/2014/main" val="575342538"/>
                    </a:ext>
                  </a:extLst>
                </a:gridCol>
                <a:gridCol w="6164427">
                  <a:extLst>
                    <a:ext uri="{9D8B030D-6E8A-4147-A177-3AD203B41FA5}">
                      <a16:colId xmlns:a16="http://schemas.microsoft.com/office/drawing/2014/main" val="2377161500"/>
                    </a:ext>
                  </a:extLst>
                </a:gridCol>
                <a:gridCol w="4444187">
                  <a:extLst>
                    <a:ext uri="{9D8B030D-6E8A-4147-A177-3AD203B41FA5}">
                      <a16:colId xmlns:a16="http://schemas.microsoft.com/office/drawing/2014/main" val="1181548733"/>
                    </a:ext>
                  </a:extLst>
                </a:gridCol>
              </a:tblGrid>
              <a:tr h="31808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  <a:r>
                        <a:rPr lang="en-US" altLang="zh-CN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Date</a:t>
                      </a:r>
                      <a:endParaRPr lang="en-US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培训内容</a:t>
                      </a:r>
                      <a:endParaRPr lang="en-US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培训对象</a:t>
                      </a:r>
                      <a:endParaRPr lang="en-US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892680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RPA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工具（</a:t>
                      </a:r>
                      <a:r>
                        <a:rPr lang="en-US" altLang="zh-CN" sz="1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BluePrism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）培训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服务部开发组成员（内部）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336516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YBI Training for Primary Data Analysis in Indonesia Rep Office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印尼代表处业务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581662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Training on revenue recognition trigger is switched from ERP-PC to the RTS of ISDP/EISDP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亚太各个代表处相关业务（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PMO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BTS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等）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760077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亚太战场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自动化验证方案介绍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马来账务共享中心</a:t>
                      </a:r>
                      <a:r>
                        <a:rPr lang="en-US" altLang="zh-CN" sz="1400" kern="1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金种子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21769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E88A35-8087-4B48-9FEC-48D24D9B6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522462"/>
              </p:ext>
            </p:extLst>
          </p:nvPr>
        </p:nvGraphicFramePr>
        <p:xfrm>
          <a:off x="982813" y="4367557"/>
          <a:ext cx="7040514" cy="2338371"/>
        </p:xfrm>
        <a:graphic>
          <a:graphicData uri="http://schemas.openxmlformats.org/drawingml/2006/table">
            <a:tbl>
              <a:tblPr firstRow="1" firstCol="1" bandRow="1"/>
              <a:tblGrid>
                <a:gridCol w="4430548">
                  <a:extLst>
                    <a:ext uri="{9D8B030D-6E8A-4147-A177-3AD203B41FA5}">
                      <a16:colId xmlns:a16="http://schemas.microsoft.com/office/drawing/2014/main" val="2334615004"/>
                    </a:ext>
                  </a:extLst>
                </a:gridCol>
                <a:gridCol w="2609966">
                  <a:extLst>
                    <a:ext uri="{9D8B030D-6E8A-4147-A177-3AD203B41FA5}">
                      <a16:colId xmlns:a16="http://schemas.microsoft.com/office/drawing/2014/main" val="1594589324"/>
                    </a:ext>
                  </a:extLst>
                </a:gridCol>
              </a:tblGrid>
              <a:tr h="31808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华为内部</a:t>
                      </a:r>
                      <a:endParaRPr lang="en-US" sz="20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2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奖项类别</a:t>
                      </a:r>
                      <a:endParaRPr lang="en-US" altLang="zh-CN" sz="12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126136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lvl="0" indent="-28575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英雄强渡大渡河”纪念章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067146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lvl="0" indent="-28575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全球覆盖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3+1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战场上线奖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个人奖及团队奖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233425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明日之星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780270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亚太地区部突出贡献个人奖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215839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lvl="0" indent="-28575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全球覆盖首批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4+4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上线先锋奖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个人奖 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606199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lvl="0" indent="-28575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行业奖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区域数字化能力建设标杆奖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777230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lvl="0" indent="-285750" algn="l" defTabSz="1218804" rtl="0" eaLnBrk="1" fontAlgn="auto" latinLnBrk="0" hangingPunct="1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中国区认真细致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平滑切换奖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团队奖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45839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F1F2229-2AC1-43C0-8BFC-2B74B1BEDDA5}"/>
              </a:ext>
            </a:extLst>
          </p:cNvPr>
          <p:cNvSpPr/>
          <p:nvPr/>
        </p:nvSpPr>
        <p:spPr>
          <a:xfrm>
            <a:off x="969145" y="3744689"/>
            <a:ext cx="4609082" cy="3579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324485" algn="just">
              <a:lnSpc>
                <a:spcPts val="2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相关的奖项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Award Received</a:t>
            </a:r>
            <a:endParaRPr lang="en-US" sz="24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09CA0C-808A-4E00-98FB-C611D84CF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86717"/>
              </p:ext>
            </p:extLst>
          </p:nvPr>
        </p:nvGraphicFramePr>
        <p:xfrm>
          <a:off x="8336136" y="4365784"/>
          <a:ext cx="5437272" cy="1290900"/>
        </p:xfrm>
        <a:graphic>
          <a:graphicData uri="http://schemas.openxmlformats.org/drawingml/2006/table">
            <a:tbl>
              <a:tblPr firstRow="1" firstCol="1" bandRow="1"/>
              <a:tblGrid>
                <a:gridCol w="2718636">
                  <a:extLst>
                    <a:ext uri="{9D8B030D-6E8A-4147-A177-3AD203B41FA5}">
                      <a16:colId xmlns:a16="http://schemas.microsoft.com/office/drawing/2014/main" val="782238499"/>
                    </a:ext>
                  </a:extLst>
                </a:gridCol>
                <a:gridCol w="2718636">
                  <a:extLst>
                    <a:ext uri="{9D8B030D-6E8A-4147-A177-3AD203B41FA5}">
                      <a16:colId xmlns:a16="http://schemas.microsoft.com/office/drawing/2014/main" val="3755378104"/>
                    </a:ext>
                  </a:extLst>
                </a:gridCol>
              </a:tblGrid>
              <a:tr h="31808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100" b="1" kern="1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外部比赛</a:t>
                      </a:r>
                      <a:endParaRPr lang="en-US" sz="1100" b="1" kern="1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</a:pPr>
                      <a:r>
                        <a:rPr lang="zh-CN" altLang="en-US" sz="1100" b="1" kern="1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奖项</a:t>
                      </a:r>
                      <a:endParaRPr lang="en-US" sz="1100" b="1" kern="1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423071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CIMB 3D Conquest – Data Science competition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/>
                        <a:t>全国第</a:t>
                      </a:r>
                      <a:r>
                        <a:rPr lang="en-US" altLang="zh-CN" sz="1400" dirty="0"/>
                        <a:t>4</a:t>
                      </a:r>
                      <a:r>
                        <a:rPr lang="zh-CN" altLang="en-US" sz="1400" dirty="0"/>
                        <a:t>； 东南亚赛区晋级决赛圈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337363"/>
                  </a:ext>
                </a:extLst>
              </a:tr>
              <a:tr h="288613"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dirty="0"/>
                        <a:t>A</a:t>
                      </a:r>
                      <a:r>
                        <a:rPr lang="en-US" sz="1400" dirty="0"/>
                        <a:t>xiata Group- Women of Data Science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>
                        <a:lnSpc>
                          <a:spcPts val="2000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晋级全国</a:t>
                      </a:r>
                      <a:r>
                        <a:rPr lang="en-US"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强（决赛圈）</a:t>
                      </a:r>
                      <a:endParaRPr lang="en-US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374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50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4879752" y="42641"/>
            <a:ext cx="5808522" cy="61555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1254776">
              <a:spcAft>
                <a:spcPct val="15000"/>
              </a:spcAft>
            </a:pPr>
            <a:r>
              <a:rPr lang="zh-CN" altLang="en-US" sz="4000" b="1" dirty="0">
                <a:solidFill>
                  <a:srgbClr val="464646"/>
                </a:solidFill>
                <a:latin typeface="Arial" charset="0"/>
                <a:ea typeface="宋体" charset="-122"/>
              </a:rPr>
              <a:t>个人工作简历（简述）</a:t>
            </a:r>
          </a:p>
        </p:txBody>
      </p:sp>
      <p:sp>
        <p:nvSpPr>
          <p:cNvPr id="5127" name="Line 23"/>
          <p:cNvSpPr>
            <a:spLocks noChangeShapeType="1"/>
          </p:cNvSpPr>
          <p:nvPr/>
        </p:nvSpPr>
        <p:spPr bwMode="auto">
          <a:xfrm>
            <a:off x="1121913" y="658194"/>
            <a:ext cx="1228571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5D1B38-C9DD-4E7B-B086-34381E9C7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22"/>
              </p:ext>
            </p:extLst>
          </p:nvPr>
        </p:nvGraphicFramePr>
        <p:xfrm>
          <a:off x="631280" y="755517"/>
          <a:ext cx="12276634" cy="1995388"/>
        </p:xfrm>
        <a:graphic>
          <a:graphicData uri="http://schemas.openxmlformats.org/drawingml/2006/table">
            <a:tbl>
              <a:tblPr/>
              <a:tblGrid>
                <a:gridCol w="2308603">
                  <a:extLst>
                    <a:ext uri="{9D8B030D-6E8A-4147-A177-3AD203B41FA5}">
                      <a16:colId xmlns:a16="http://schemas.microsoft.com/office/drawing/2014/main" val="3647940012"/>
                    </a:ext>
                  </a:extLst>
                </a:gridCol>
                <a:gridCol w="9968031">
                  <a:extLst>
                    <a:ext uri="{9D8B030D-6E8A-4147-A177-3AD203B41FA5}">
                      <a16:colId xmlns:a16="http://schemas.microsoft.com/office/drawing/2014/main" val="3957322843"/>
                    </a:ext>
                  </a:extLst>
                </a:gridCol>
              </a:tblGrid>
              <a:tr h="18521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专业认证</a:t>
                      </a:r>
                    </a:p>
                  </a:txBody>
                  <a:tcPr marL="121884" marR="121884" marT="60942" marB="609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华为考获认证</a:t>
                      </a:r>
                      <a:r>
                        <a:rPr kumimoji="0" lang="en-US" altLang="zh-CN" sz="1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训练师认证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数据分析师认证证书（初级）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上岗证证书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基础知识及应用考试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实施顾问证书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Cyber Security Certificate for Service Work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岗位安全认证证书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99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47CFDF-2004-479A-AF3F-4CB775C1FB2D}"/>
              </a:ext>
            </a:extLst>
          </p:cNvPr>
          <p:cNvSpPr txBox="1"/>
          <p:nvPr/>
        </p:nvSpPr>
        <p:spPr>
          <a:xfrm>
            <a:off x="8189597" y="820075"/>
            <a:ext cx="4997353" cy="161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zh-CN" altLang="en-US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外部考获认证</a:t>
            </a:r>
            <a:r>
              <a:rPr lang="en-US" altLang="zh-CN" sz="12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Data Analytics Certificate</a:t>
            </a:r>
          </a:p>
          <a:p>
            <a:pPr marL="171450" lvl="0" indent="-1714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IT Automation with Python Specialization</a:t>
            </a:r>
          </a:p>
          <a:p>
            <a:pPr marL="171450" lvl="0" indent="-1714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Microsoft Certified: Azure AI Fundamentals</a:t>
            </a:r>
          </a:p>
          <a:p>
            <a:pPr marL="171450" lvl="0" indent="-1714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Google Project Management Certificate</a:t>
            </a:r>
          </a:p>
          <a:p>
            <a:pPr marL="171450" lvl="0" indent="-1714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Microsoft Certified: Azure AI Engineer Associate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CD5C81-5738-4BC8-AC97-01AA8021B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252" y="2923588"/>
            <a:ext cx="2993687" cy="17257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7A0C2-3054-4AA8-A7DE-82B13D31D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168" y="3071770"/>
            <a:ext cx="3270865" cy="18546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E1C4B1-131C-4441-ACEE-99A6DF19E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5" y="2706520"/>
            <a:ext cx="2381126" cy="1631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20FAD5-7A8A-4E10-B84E-40117D4C5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110" y="4700246"/>
            <a:ext cx="2381126" cy="2347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08A035-D1F4-4B07-A1BA-38F575F56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185" y="5059100"/>
            <a:ext cx="3270865" cy="18487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6423DB-8F51-41DD-92DC-D61A022B4D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175" y="3884606"/>
            <a:ext cx="2323742" cy="16312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328654-E340-48F4-9950-C5748321AE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4912" y="4700246"/>
            <a:ext cx="2560201" cy="33007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E98E89-B7A3-4D30-80F2-5865546A6A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6301" y="2756447"/>
            <a:ext cx="2729476" cy="19609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49D23E-6F2A-4D7F-9596-5230096C52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75" y="5278430"/>
            <a:ext cx="3082621" cy="23969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694827-1F10-4517-B8A1-B33E1B4F68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46559" y="2464392"/>
            <a:ext cx="2601747" cy="18372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8CAB87-E644-4D2B-B238-D8C51868D0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52360" y="3947330"/>
            <a:ext cx="2988282" cy="19265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247C14-06F7-4E65-8B4C-9DD63BE27A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5113" y="5666902"/>
            <a:ext cx="4727803" cy="276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2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A2B85F-72F6-4339-AF6A-E94706DB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27" y="1666477"/>
            <a:ext cx="6558291" cy="2614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B9D5F0-4FCA-42FA-85AD-228BFA823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355" y="5298845"/>
            <a:ext cx="3347495" cy="1809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9D1795-D77E-4835-BC0C-C9A6CF61F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12" y="4995238"/>
            <a:ext cx="3222783" cy="1809228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BBC4C8CD-94C0-4AD9-9568-FE034C0BA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8261" y="-11877"/>
            <a:ext cx="5808522" cy="61555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1254776">
              <a:spcAft>
                <a:spcPct val="15000"/>
              </a:spcAft>
            </a:pPr>
            <a:r>
              <a:rPr lang="zh-CN" altLang="en-US" sz="4000" b="1" dirty="0">
                <a:solidFill>
                  <a:srgbClr val="464646"/>
                </a:solidFill>
                <a:latin typeface="Arial" charset="0"/>
                <a:ea typeface="宋体" charset="-122"/>
              </a:rPr>
              <a:t>来自用户的感谢</a:t>
            </a:r>
          </a:p>
        </p:txBody>
      </p:sp>
      <p:sp>
        <p:nvSpPr>
          <p:cNvPr id="8" name="Line 23">
            <a:extLst>
              <a:ext uri="{FF2B5EF4-FFF2-40B4-BE49-F238E27FC236}">
                <a16:creationId xmlns:a16="http://schemas.microsoft.com/office/drawing/2014/main" id="{B1B9A837-ED4E-4CCE-9C83-67DE38444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1913" y="658194"/>
            <a:ext cx="1228571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CC59E-F872-4F17-B6D7-6F4560779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6300" y="1354354"/>
            <a:ext cx="4456716" cy="2526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3333B2-5D24-4EE0-A6A7-4F321181F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135" y="1406128"/>
            <a:ext cx="4921944" cy="21511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29B1B5-AF7C-4754-AEAF-6162024EA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360" y="3009327"/>
            <a:ext cx="3544979" cy="20660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B38FD5-F6C1-4590-9A9C-D8A57A5643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729" y="2953717"/>
            <a:ext cx="4364001" cy="3221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E2FD3B-7824-4115-9A6D-785C9A876F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116" y="5319595"/>
            <a:ext cx="4544682" cy="24164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52C77A-F175-4AB2-ACC1-52EA5F1A73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9426" y="5456969"/>
            <a:ext cx="3776913" cy="193695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0B3231-04BF-442D-A811-334C65E10EE7}"/>
              </a:ext>
            </a:extLst>
          </p:cNvPr>
          <p:cNvSpPr/>
          <p:nvPr/>
        </p:nvSpPr>
        <p:spPr>
          <a:xfrm>
            <a:off x="807010" y="886102"/>
            <a:ext cx="11521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开发企业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We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码、数字化工具、各个英文培训及支持</a:t>
            </a:r>
            <a:r>
              <a:rPr lang="en-US" altLang="zh-CN" sz="18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MetaERP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子公司切换， 获得用户们的感谢信及万马鼓励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701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4591720" y="0"/>
            <a:ext cx="5349341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1254776">
              <a:spcAft>
                <a:spcPct val="15000"/>
              </a:spcAft>
            </a:pPr>
            <a:r>
              <a:rPr lang="zh-CN" altLang="en-US" sz="2800" b="1" dirty="0">
                <a:solidFill>
                  <a:srgbClr val="464646"/>
                </a:solidFill>
                <a:latin typeface="Arial" charset="0"/>
                <a:ea typeface="宋体" charset="-122"/>
              </a:rPr>
              <a:t>入职华为主要工作历程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V="1">
            <a:off x="487264" y="430885"/>
            <a:ext cx="13537503" cy="39697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 dirty="0"/>
          </a:p>
        </p:txBody>
      </p:sp>
      <p:graphicFrame>
        <p:nvGraphicFramePr>
          <p:cNvPr id="8" name="Group 96">
            <a:extLst>
              <a:ext uri="{FF2B5EF4-FFF2-40B4-BE49-F238E27FC236}">
                <a16:creationId xmlns:a16="http://schemas.microsoft.com/office/drawing/2014/main" id="{FADA6784-F772-43B7-BEC8-85D5F77EC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516079"/>
              </p:ext>
            </p:extLst>
          </p:nvPr>
        </p:nvGraphicFramePr>
        <p:xfrm>
          <a:off x="343248" y="837693"/>
          <a:ext cx="13537504" cy="679551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32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年份</a:t>
                      </a:r>
                    </a:p>
                  </a:txBody>
                  <a:tcPr marL="121884" marR="121884" marT="60942" marB="609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能力构建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主要负责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参与项目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主要工作内容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66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</a:p>
                  </a:txBody>
                  <a:tcPr marL="121884" marR="121884" marT="60942" marB="609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应用开发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80%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方案分析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10%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项目管理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10%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70% 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ISDP+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暨交易流项目专题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 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Mendix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轻应用迁移至灵雀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（华为自研）整改计划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 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可信轻应用（灵雀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）整改项目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5%    RPA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工具选型试点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-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调研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BP,AntRobot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及日落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kapow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5%    RomaB2B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实战试点项目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个国家（印、马、泰、兰卡，新），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个系统部交易流项目专题开发工作，使用机器人自动化业务流程如项目交付验收计划及发票到回款计划。同时也使用数字化工具（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tableau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）搭建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自动化开票指标报告，每周自动寄送至新加坡代表处管理层。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去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计划：重开发地区部财经财务报表系统到灵雀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，调研及试点各类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工具，输出分析报告并启动机器人迁移计划和制定机器人上线标准流程。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遵从公司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可信项目整改轻应用从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windows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服务器切换到鲲鹏服务器、安装安全红线等述求。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融合平台能力到开发项目中并首个试点如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uniknown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welink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对话机器人、应用号，提高用户友好性。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试点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RomaB2B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协同机关一同开发斯里兰卡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Dialog PO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场景和印尼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Tsel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PO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场景，构建区域能力。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006664"/>
                  </a:ext>
                </a:extLst>
              </a:tr>
              <a:tr h="18115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</a:p>
                  </a:txBody>
                  <a:tcPr marL="121884" marR="121884" marT="60942" marB="609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应用开发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40%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项目管理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40%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方案分析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20%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连续性项目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-Wave1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马来试点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ISDP+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暨交易流项目专题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亚太企业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we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APP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开发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3MS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社区建设（活力亚太及亚太企业）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参与作业层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ERP-PM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切换到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ISDP/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eISDP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SCM-INV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切换到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WMS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SCM-INV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切换到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ODS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ERP-PC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切换到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，及马来交易层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轮全场景，全覆盖的一线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UAT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验证，马来成功实现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全球试点切换上线。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重点开发泰、马、印交易流开发项目，研讨极限场景下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BCM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预案，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kapow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内存量机器人迁移及重对业务方案，试点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自动化能力，流程为抓取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w3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领导发文生成云关键字统计图。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以亚太企业首个试点的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，接需持续建设。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运维及建设亚太企业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3ms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社区和活力亚太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3ms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社区前台，按需持续建设。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411187"/>
                  </a:ext>
                </a:extLst>
              </a:tr>
              <a:tr h="20940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</a:p>
                  </a:txBody>
                  <a:tcPr marL="121884" marR="121884" marT="60942" marB="609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方案分析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40%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项目管理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40%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应用开发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20%</a:t>
                      </a: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60%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连续性项目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-Wave2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华技及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Wave3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泰国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ISDP+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暨交易流项目专题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We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码及灵雀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打通融合，纳入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AI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智能分析及推荐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各代村自为战：国家一站式及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Mu2.0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门户搭建及推广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 Roma 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LiveData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Roma FDI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数据集成服务试点</a:t>
                      </a: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月份支撑首发终态云原生架构升级、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月份试点贵安独立切片部署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高斯数据迁移、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月份支撑亚太地区部华技切换、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月份前往泰国作为项目组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PMO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OTC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流战场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现场支撑泰国销服型子公司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重点开发印尼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Indosat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发票到回款计划交易流自动化项目，搭建可复用代码组件如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Excel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回写、邮件推送。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使用灵雀开发企业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码用户前台，用户可自由搭配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码内容，减少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运维。同时融入智能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服务， 为用户提供智能内容推荐。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国家一站式及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MU2.0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推广，村自为战，搭建地区部、马来、泰国、账务共享中心数字化门户。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首个试点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平台能力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——Live Data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 FDI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服务，提高数据集成效率。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2497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4591720" y="0"/>
            <a:ext cx="5349341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1254776">
              <a:spcAft>
                <a:spcPct val="15000"/>
              </a:spcAft>
            </a:pPr>
            <a:r>
              <a:rPr lang="zh-CN" altLang="en-US" sz="2800" b="1" dirty="0">
                <a:solidFill>
                  <a:srgbClr val="464646"/>
                </a:solidFill>
                <a:latin typeface="Arial" charset="0"/>
                <a:ea typeface="宋体" charset="-122"/>
              </a:rPr>
              <a:t>入职华为主要工作历程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V="1">
            <a:off x="487264" y="430885"/>
            <a:ext cx="13537503" cy="39697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 dirty="0"/>
          </a:p>
        </p:txBody>
      </p:sp>
      <p:graphicFrame>
        <p:nvGraphicFramePr>
          <p:cNvPr id="64608" name="Group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291434"/>
              </p:ext>
            </p:extLst>
          </p:nvPr>
        </p:nvGraphicFramePr>
        <p:xfrm>
          <a:off x="300088" y="822799"/>
          <a:ext cx="13753527" cy="6871792"/>
        </p:xfrm>
        <a:graphic>
          <a:graphicData uri="http://schemas.openxmlformats.org/drawingml/2006/table">
            <a:tbl>
              <a:tblPr/>
              <a:tblGrid>
                <a:gridCol w="764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7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 marL="121884" marR="121884" marT="60942" marB="609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能力构建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主要负责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参与项目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主要工作内容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18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方案分析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50%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项目管理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30%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应用开发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10%</a:t>
                      </a: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40%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连续性项目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-Wave3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亚太全覆盖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ISDP+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暨交易流项目专题（与客户协同）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10% 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ilearning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知识社区建设（数字化、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MetaERP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）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40% CDB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两网融合端到端数字化项目</a:t>
                      </a: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PMO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OTC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流战场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、梳理各代干系人、金种子、测试人员、机关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支持人员。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、为一线提供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能力建设， 包过安排现场及远程培训、社区及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Ilearning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建设、输出赋能材料、知识点梳理及宣传、筹办颁奖典礼等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、梳理各代差异化场景和方案适配， 拉通业财税人员定稿测试场景和策略，造数质量验证，并输出最终的测试场景和测试机制。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、输出测试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SOP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和测试人员， 组织测试启动会，提供测试工具指导和进展管理。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、拉通产品组进行问题总结和梳理，到香港、印尼、泰国现场赋能组织测试并输出上线前的准备事项。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完成的项目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、负责马来、新加坡和香港的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产品运营支持、问题拉通及各项数字化需求进展和质量管理，包括主干系统问题拉通、客户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业务拉通测试、业务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\IT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方案设计等。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、完成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项验收文档定制化模板配置、规则配置。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ISDP+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交易流专题：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15+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项交易流新需求及优化 （香港联通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RPA+Roma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B2B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Maxis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勘测生成、验收触发开票校验、及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、验收、开票优化等）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、亚太精细化运营融合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专题：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DU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维度收开差专题方案、逻辑分析。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完成马来一站式平台，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Maxis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TM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系统部画像建设。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两网融合专题 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完成与客户协同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个节点的数字化方案整改（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、验收、发票环节）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完成设计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大端到端数字化方案提升运营效率（供应交付主计划管理看板、非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HW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物料系统自动化、多方物料齐套管理、进销存多方物料管理看板）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专业回馈：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、受邀为讲师，为马来账务共享中心金种子提供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自动化测试培训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、优秀表现受邀以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角度为公司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ilearning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平台输出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OTC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</a:t>
                      </a:r>
                      <a:r>
                        <a:rPr kumimoji="0" lang="en-US" altLang="zh-CN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实施课件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、总结多个数字化方案，分享到公司解决方案变革沙盘（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CDB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两网融合、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DU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维度收开差数字化案例）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006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27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C96978-43D8-42A5-BD91-8F0D964FB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194378"/>
              </p:ext>
            </p:extLst>
          </p:nvPr>
        </p:nvGraphicFramePr>
        <p:xfrm>
          <a:off x="235236" y="564604"/>
          <a:ext cx="13753527" cy="6810412"/>
        </p:xfrm>
        <a:graphic>
          <a:graphicData uri="http://schemas.openxmlformats.org/drawingml/2006/table">
            <a:tbl>
              <a:tblPr/>
              <a:tblGrid>
                <a:gridCol w="764780">
                  <a:extLst>
                    <a:ext uri="{9D8B030D-6E8A-4147-A177-3AD203B41FA5}">
                      <a16:colId xmlns:a16="http://schemas.microsoft.com/office/drawing/2014/main" val="731259369"/>
                    </a:ext>
                  </a:extLst>
                </a:gridCol>
                <a:gridCol w="1376605">
                  <a:extLst>
                    <a:ext uri="{9D8B030D-6E8A-4147-A177-3AD203B41FA5}">
                      <a16:colId xmlns:a16="http://schemas.microsoft.com/office/drawing/2014/main" val="4003212121"/>
                    </a:ext>
                  </a:extLst>
                </a:gridCol>
                <a:gridCol w="2647147">
                  <a:extLst>
                    <a:ext uri="{9D8B030D-6E8A-4147-A177-3AD203B41FA5}">
                      <a16:colId xmlns:a16="http://schemas.microsoft.com/office/drawing/2014/main" val="4129256534"/>
                    </a:ext>
                  </a:extLst>
                </a:gridCol>
                <a:gridCol w="8964995">
                  <a:extLst>
                    <a:ext uri="{9D8B030D-6E8A-4147-A177-3AD203B41FA5}">
                      <a16:colId xmlns:a16="http://schemas.microsoft.com/office/drawing/2014/main" val="3851346305"/>
                    </a:ext>
                  </a:extLst>
                </a:gridCol>
              </a:tblGrid>
              <a:tr h="438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时间</a:t>
                      </a:r>
                    </a:p>
                  </a:txBody>
                  <a:tcPr marL="121884" marR="121884" marT="60942" marB="609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能力构建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主要负责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参与项目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主要工作内容</a:t>
                      </a:r>
                    </a:p>
                  </a:txBody>
                  <a:tcPr marL="121884" marR="121884" marT="60942" marB="609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860019"/>
                  </a:ext>
                </a:extLst>
              </a:tr>
              <a:tr h="637189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84" marR="121884" marT="60942" marB="609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方案设计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80%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客户关系</a:t>
                      </a: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 20%</a:t>
                      </a: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亚太两网站点融合数字化方案</a:t>
                      </a:r>
                      <a:endParaRPr kumimoji="0" lang="en-MY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50% </a:t>
                      </a:r>
                      <a:r>
                        <a:rPr kumimoji="0" lang="zh-CN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牵引客户交易流系统对接工作</a:t>
                      </a:r>
                    </a:p>
                  </a:txBody>
                  <a:tcPr marL="121884" marR="121884" marT="60942" marB="609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马代、新加坡、香港业务日常连续性保障及需求分析 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负责数字运营平台的架构优化和技术方案升级，提供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支持及维护，利用公司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服务和轻量化开发工具 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负责核心模块代码的开发，同时看护和优化区域本领域的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架构和数据架构，结构性地提升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应用体验 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承接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解决方案端到端交付、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产品运营，提升业务运作效率；并负责代表处数字化运营平台的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支持及维护，支撑跨领域需求的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集成解决方案设计，协同机关各一级部门数字化使能部以及机关各领域生产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支撑。 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- 2024 H1 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重点项目支撑： </a:t>
                      </a:r>
                      <a:endParaRPr lang="en-US" altLang="zh-CN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亚太进销存看板 </a:t>
                      </a:r>
                      <a:endParaRPr lang="en-US" altLang="zh-CN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亚太精细化运营 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——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一站式建设、系统部画像 </a:t>
                      </a:r>
                      <a:endParaRPr lang="en-US" altLang="zh-CN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马来</a:t>
                      </a:r>
                      <a:r>
                        <a:rPr lang="en-US" altLang="zh-CN" sz="1400" dirty="0" err="1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CelcomDigi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系统部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Coupa- CCO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发票接受方案优化需求 </a:t>
                      </a:r>
                      <a:endParaRPr lang="en-US" altLang="zh-CN" sz="14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马来</a:t>
                      </a:r>
                      <a:r>
                        <a:rPr lang="en-US" altLang="zh-CN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Maxis </a:t>
                      </a:r>
                      <a:r>
                        <a:rPr lang="zh-CN" altLang="en-US" sz="14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触发开票自动化</a:t>
                      </a:r>
                    </a:p>
                  </a:txBody>
                  <a:tcPr marL="76200" marR="7620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21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432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4591720" y="0"/>
            <a:ext cx="5349341" cy="4308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 defTabSz="1254776">
              <a:spcAft>
                <a:spcPct val="15000"/>
              </a:spcAft>
            </a:pPr>
            <a:r>
              <a:rPr lang="zh-CN" altLang="en-US" sz="2800" b="1" dirty="0">
                <a:solidFill>
                  <a:srgbClr val="464646"/>
                </a:solidFill>
                <a:latin typeface="Arial" charset="0"/>
                <a:ea typeface="宋体" charset="-122"/>
              </a:rPr>
              <a:t>个人能力自我验收成果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 flipV="1">
            <a:off x="307244" y="430885"/>
            <a:ext cx="13717524" cy="2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3332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2A85B7-5E8C-4DB8-8C24-FCE6CFE03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75490"/>
              </p:ext>
            </p:extLst>
          </p:nvPr>
        </p:nvGraphicFramePr>
        <p:xfrm>
          <a:off x="307243" y="544116"/>
          <a:ext cx="13609513" cy="72728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791">
                  <a:extLst>
                    <a:ext uri="{9D8B030D-6E8A-4147-A177-3AD203B41FA5}">
                      <a16:colId xmlns:a16="http://schemas.microsoft.com/office/drawing/2014/main" val="2695681812"/>
                    </a:ext>
                  </a:extLst>
                </a:gridCol>
                <a:gridCol w="1191441">
                  <a:extLst>
                    <a:ext uri="{9D8B030D-6E8A-4147-A177-3AD203B41FA5}">
                      <a16:colId xmlns:a16="http://schemas.microsoft.com/office/drawing/2014/main" val="344892144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69941111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87028925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196993041"/>
                    </a:ext>
                  </a:extLst>
                </a:gridCol>
                <a:gridCol w="7056785">
                  <a:extLst>
                    <a:ext uri="{9D8B030D-6E8A-4147-A177-3AD203B41FA5}">
                      <a16:colId xmlns:a16="http://schemas.microsoft.com/office/drawing/2014/main" val="3100656006"/>
                    </a:ext>
                  </a:extLst>
                </a:gridCol>
              </a:tblGrid>
              <a:tr h="30050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ysClr val="windowText" lastClr="000000"/>
                          </a:solidFill>
                        </a:rPr>
                        <a:t>维度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ysClr val="windowText" lastClr="000000"/>
                          </a:solidFill>
                        </a:rPr>
                        <a:t>技能累积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ysClr val="windowText" lastClr="000000"/>
                          </a:solidFill>
                        </a:rPr>
                        <a:t>自我评分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ysClr val="windowText" lastClr="000000"/>
                          </a:solidFill>
                        </a:rPr>
                        <a:t>是否公司工作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ysClr val="windowText" lastClr="000000"/>
                          </a:solidFill>
                        </a:rPr>
                        <a:t>举证</a:t>
                      </a:r>
                      <a:endParaRPr lang="en-US" sz="1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571099"/>
                  </a:ext>
                </a:extLst>
              </a:tr>
              <a:tr h="284758">
                <a:tc rowSpan="22"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关键能力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14"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开发能力（工具）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Blue Prism (RPA)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较好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年起共累积开发了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个项目，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多个机器人（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年经验）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19160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Kapow(RPA)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较好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年开发了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个机器人（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年经验）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075331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 Director(RPA)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年试点为主开发了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个机器人 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持续使用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46804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RomaB2B 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年协同机关一同开发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个项目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B2B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任务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持续使用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752150"/>
                  </a:ext>
                </a:extLst>
              </a:tr>
              <a:tr h="275462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Uniknown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welink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对话机器人）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年首个试点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Uniknown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，协同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RPA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后台任务开发了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Welink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对话机器人，由用户下发运行指令。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65517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UniAI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（智能推荐）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年首个试点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UniAI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智能推荐服务， 融合如亚太企业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里。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971351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YBI (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数据分析）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一般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作为讲师为印尼代表处提供初级数据分析师培训（英文）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316926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Tableau(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数据分析）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较好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年开发新加坡代表处发票指标看板，公司外部参与培训，考获认证。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63981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灵雀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Plus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（轻应用）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2020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年起共开发了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个轻应用。（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码前台、菲律宾门禁、亚太财经财务报表前台）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886775"/>
                  </a:ext>
                </a:extLst>
              </a:tr>
              <a:tr h="275462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码开发者平台（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年起为企业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主开发，添加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智能推荐、用户前台自定义内容等多个功能。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022190"/>
                  </a:ext>
                </a:extLst>
              </a:tr>
              <a:tr h="275462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社区自定义门户 （前台设计）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年起持运维“活力亚太” “亚太企业”中英文社区自定义门户（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年经验）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765732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Ilearning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Edx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（前台设计）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年为亚太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HR 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ilearning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954865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 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Livedata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（数据集成）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年以菲律宾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MrCar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项目进行开发及试点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07373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Roma FDI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（数据集成）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年以菲律宾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MrCar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项目进行开发及试点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387776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开发能力（语言）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较好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年经验，公司内开发自动化项目居多，</a:t>
                      </a:r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年起试点， 后共累积开发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个项目， 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10+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机器人 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–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持续使用；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433260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HTML&amp;CSS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公司内用于自定义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3ms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社区门户（活力亚太、亚太企业）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689056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JavaScript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一般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公司内用于自定义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3ms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社区门户及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（活力亚太、亚太企业）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864893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AUI3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灵雀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Plus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主要语言，完成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个轻应用开发（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码前台、财务报表、菲律宾门禁）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832844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Vue.JS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We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码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开发主要语言（亚太企业）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801402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开发交易流验收模板为主 （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celcomDigi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POD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开票里程碑验收模板）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7992970"/>
                  </a:ext>
                </a:extLst>
              </a:tr>
              <a:tr h="450756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业务理解力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端到端交易流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2021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年起参与亚太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切换项目，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年起做为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OTC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流战场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及项目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PMO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年承接马来、香港、新加坡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263335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沟通及影响力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/>
                        <a:t>与相关业务人员沟通，及时响应需求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项目里持续沟通业务述求， 切换后也持续做好运营运维保障（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年经验）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46589"/>
                  </a:ext>
                </a:extLst>
              </a:tr>
              <a:tr h="284758">
                <a:tc rowSpan="2"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专业回馈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技能传递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亚太数字化及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MetaERP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05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Ilearning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建设， 日常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RPA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开发指导 （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年经验）、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MU2.0 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租户搭建指导及推广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826513"/>
                  </a:ext>
                </a:extLst>
              </a:tr>
              <a:tr h="284758">
                <a:tc vMerge="1">
                  <a:txBody>
                    <a:bodyPr/>
                    <a:lstStyle/>
                    <a:p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专业建议</a:t>
                      </a:r>
                      <a:endParaRPr 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好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804" rtl="0" eaLnBrk="1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✔</a:t>
                      </a:r>
                      <a:endParaRPr kumimoji="0" lang="en-US" altLang="zh-CN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80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制定</a:t>
                      </a: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RPA</a:t>
                      </a:r>
                      <a:r>
                        <a:rPr lang="zh-CN" altLang="en-US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上线流程标准，归纳文档；</a:t>
                      </a:r>
                      <a:r>
                        <a:rPr lang="zh-CN" altLang="en-US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基于地区部角度输出</a:t>
                      </a:r>
                      <a:r>
                        <a:rPr lang="en-US" altLang="zh-CN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OTC</a:t>
                      </a:r>
                      <a:r>
                        <a:rPr lang="zh-CN" altLang="en-US" sz="105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流选择场景课件给机关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719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647763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FrutigerNext LT BlackCn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4537</TotalTime>
  <Words>4452</Words>
  <Application>Microsoft Office PowerPoint</Application>
  <PresentationFormat>Custom</PresentationFormat>
  <Paragraphs>402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FrutigerNext LT BlackCn</vt:lpstr>
      <vt:lpstr>FrutigerNext LT Bold</vt:lpstr>
      <vt:lpstr>FrutigerNext LT Medium</vt:lpstr>
      <vt:lpstr>FrutigerNext LT Regular</vt:lpstr>
      <vt:lpstr>微软雅黑</vt:lpstr>
      <vt:lpstr>微软雅黑</vt:lpstr>
      <vt:lpstr>华文细黑</vt:lpstr>
      <vt:lpstr>Arial</vt:lpstr>
      <vt:lpstr>Wingdings</vt:lpstr>
      <vt:lpstr>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Interbrand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Interbrand</dc:creator>
  <cp:lastModifiedBy>Lee Lin Yuan (A)</cp:lastModifiedBy>
  <cp:revision>238</cp:revision>
  <dcterms:created xsi:type="dcterms:W3CDTF">2006-04-06T04:02:18Z</dcterms:created>
  <dcterms:modified xsi:type="dcterms:W3CDTF">2024-11-13T11:27:08Z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s_pID_725343">
    <vt:lpwstr>(3)Kr4SdXKsRCuhCQBolmUBrrV8bb9+qigoR74Mhx3IPQEJqoGhrbPhKx+ndLPd/MzkaQPZvXEF_x000d_ cfd47ohbAImrnKniyp8N/6aMFRxZU6k/+aQOxMyo0EtxGokt411oH8bBbqBow7wLEQn54yVM_x000d_ a00swGU7uBIcsmBAENW7LibCXE8GLxWc5dbJKcaVyt/iM4CEPPXOuO5yBI0LRI1f4wtAgWyR_x000d_ O5XQR8CCmotBxKTcPN</vt:lpwstr>
  </property>
  <property fmtid="{D5CDD505-2E9C-101B-9397-08002B2CF9AE}" pid="3" name="_ms_pID_7253431">
    <vt:lpwstr>dS2lq5RYpC/XPnciTuMKgZpLovpawEGFumNp0JgbJvSqaHroGoSw1H_x000d_ 9dOeMMDcSa9lK//ktKGk0LBQENSee6aGa4KB+5W/stBD+71CsAQ+cnnnM4UFcuzWu5BBIvLJ_x000d_ RCFnhdn2bbdT1orcWSrnKFK6O31gJyX/FDBYbx9/TWmU3aLaePg6PMSI5aZvwIF0ljy8zglw_x000d_ InmrybJIzfqqU36q0yFy12KjVYSdWzseMt5/</vt:lpwstr>
  </property>
  <property fmtid="{D5CDD505-2E9C-101B-9397-08002B2CF9AE}" pid="4" name="_ms_pID_7253432">
    <vt:lpwstr>QsIXadyoAQkHz7AZzIQ81wSRknblDo/9FD2n_x000d_ 198VpKAlSa/Mckbvq5o+/O3mog8o1XfWOyEO3SLLX+fstfZeqDhWez3RxfE49pmktQegkCFy_x000d_ oY2+WUCr8Op66CDyOJ/8jgNZLg+Xv2NE5Xr4op6HvLm33kiE8nfrU//q8YiCrwrQYLneMxoe_x000d_ bSAzj1qe2EAecw==</vt:lpwstr>
  </property>
  <property fmtid="{D5CDD505-2E9C-101B-9397-08002B2CF9AE}" pid="5" name="_new_ms_pID_72543">
    <vt:lpwstr>(4)PwYS5VutQpLv1iJY4A86G0/usDFRY1cGSojWuXEqfvScZa3QC4dwkT20dApYdVk2SAl4FvuJ
sWsNMRhihyjUtT+WzMBq6ooV21LYDtjtDYbXFx9QXhdo7IIKAwODfemH/q5fi+GAd3wnb13B
4Iq0MtMf9JprCjxmpAVE012Wu6yjp2YMSxnc3gH5RFUCGhDbkOo4wPZ15TrD7QPWJg4PCH//
ofLmGo5RX8QLxI4RjO</vt:lpwstr>
  </property>
  <property fmtid="{D5CDD505-2E9C-101B-9397-08002B2CF9AE}" pid="6" name="_new_ms_pID_725431">
    <vt:lpwstr>D0yMCUHhDmoeAktdlR4gcrOv54dcp6eAts1tg7D3zyFy6krobsFhoH
hJcK5yAkx3zgMOOYmwJxcf+30d8NDJziLEQk38PcK7sPA5yU/wQ5iqzai68ZS34G7vmHY0gm
N0XZ8Zl3tlqZge+sdvSlvVWXr0V+vKne7JEQ9oclDZ6rg/Xztcv1N5FArCvJu/JUkYe3HZYm
SwC+ZKdlIKx2uqXUJWOAz9Kl+7ZAYa1F51TX</vt:lpwstr>
  </property>
  <property fmtid="{D5CDD505-2E9C-101B-9397-08002B2CF9AE}" pid="7" name="_new_ms_pID_725432">
    <vt:lpwstr>0wEsTaBkyEfE4gINz+39eAAdulVRb5KKpLSQ
vS+WUl9rVvXAHsuFciK8XmAz8s3FDzyHbTSmPU9AeiWTkUD0OaC6xeTz/IFpy/WPGxK9edk+
wSQ/ocBb2mitIhlQDdM225nxWxT27c+PmuVJRKOFmu5MmWVeZ5H0ZXtfy+b3wLXo9TiSbeja
JXa05tQ5g1zj1ROfN3fv3S9V0PpvN/MrFygWsP9LLmf2greutNz2+L</vt:lpwstr>
  </property>
  <property fmtid="{D5CDD505-2E9C-101B-9397-08002B2CF9AE}" pid="8" name="_new_ms_pID_725433">
    <vt:lpwstr>QMUuQFYPWWPIpcoTXx
izM5ixALf9HgG06WClJN+YiWcw0=</vt:lpwstr>
  </property>
  <property fmtid="{D5CDD505-2E9C-101B-9397-08002B2CF9AE}" pid="9" name="_readonly">
    <vt:lpwstr/>
  </property>
  <property fmtid="{D5CDD505-2E9C-101B-9397-08002B2CF9AE}" pid="10" name="_change">
    <vt:lpwstr/>
  </property>
  <property fmtid="{D5CDD505-2E9C-101B-9397-08002B2CF9AE}" pid="11" name="_full-control">
    <vt:lpwstr/>
  </property>
  <property fmtid="{D5CDD505-2E9C-101B-9397-08002B2CF9AE}" pid="12" name="sflag">
    <vt:lpwstr>1457397732</vt:lpwstr>
  </property>
  <property fmtid="{D5CDD505-2E9C-101B-9397-08002B2CF9AE}" pid="13" name="_2015_ms_pID_725343">
    <vt:lpwstr>(3)RSBfW5jHvBH/DkF6gPRBIcB+J1XLZWrlv2dJYm6GOVBDTI2vbRYHIuiwgoI3a0cZTOkr+Yzi
egMErzcS5ItN4s/H3VjRbvrd4cQSDsuSNbVALFd3HfS8igUo9cZpR800vdEdSQhHNt4bw2I/
VhuLcz78ljx6vcK2ptkBHGFWIujFYSmg+AB5o7e/A6adu51AyfloeCRkmaOr3eFntMz5CMk8
47D676G00r/Y879iGh</vt:lpwstr>
  </property>
  <property fmtid="{D5CDD505-2E9C-101B-9397-08002B2CF9AE}" pid="14" name="_2015_ms_pID_7253431">
    <vt:lpwstr>9EW1mj520Yn5lePxU94qRCuvaIect7tdtCxZe90dxfsHqqL9fCcN7/
BqWXrmG9XTHtNu0GML0bVYAZ/YE/TnQXT1Pk69UpaU9By6sJsGveEDmdMXgMGy0BtUVYQM5U
PBN3uFlOzNb3QDRJc2StGBmJ1nEtTRSu4+UZz7AimSz4ZesxP/t08WLRPpSCvko/7AhJ84XP
I+al3D/K8jcvgBlPinC+Yq2jhDDt8rW1RxFK</vt:lpwstr>
  </property>
  <property fmtid="{D5CDD505-2E9C-101B-9397-08002B2CF9AE}" pid="15" name="_2015_ms_pID_7253432">
    <vt:lpwstr>ZAb4BxS9OrDepLpl0Ip6XfIrkd+G1xrxTHQ1
LLbK6Cs0QYd+GTtYe6R3ycsNqKwmH3q68ceUvZVlltRLVYVjVHs=</vt:lpwstr>
  </property>
</Properties>
</file>